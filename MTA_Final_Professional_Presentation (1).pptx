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58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21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48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95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0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86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09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12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21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50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3181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53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98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06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29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183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3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03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  <p:sldLayoutId id="2147483858" r:id="rId15"/>
    <p:sldLayoutId id="2147483859" r:id="rId16"/>
    <p:sldLayoutId id="2147483860" r:id="rId17"/>
    <p:sldLayoutId id="2147483861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MTA Daily Ridership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/>
              <a:t>Using Power BI and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This project analyzes the MTA's ridership trends during and after the COVID-19 pandemic.</a:t>
            </a:r>
          </a:p>
          <a:p>
            <a:r>
              <a:t>- Tools used: SQL for data querying and Power BI for visualization.</a:t>
            </a:r>
          </a:p>
          <a:p>
            <a:r>
              <a:t>- Source: MTA Daily Ridership dataset from March 2020 onwards.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About the MTA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5248" y="2346636"/>
            <a:ext cx="5590463" cy="3799331"/>
          </a:xfrm>
        </p:spPr>
        <p:txBody>
          <a:bodyPr>
            <a:normAutofit/>
          </a:bodyPr>
          <a:lstStyle/>
          <a:p>
            <a:r>
              <a:rPr dirty="0"/>
              <a:t>The Metropolitan Transportation Authority (MTA) operates the largest transportation network in North America.</a:t>
            </a:r>
          </a:p>
          <a:p>
            <a:r>
              <a:rPr dirty="0"/>
              <a:t>Includes subways, buses, railroads (LIRR, Metro-North), bridges, tunnels, and paratransit services.</a:t>
            </a:r>
          </a:p>
          <a:p>
            <a:r>
              <a:rPr dirty="0"/>
              <a:t>Serves NYC and parts of NY State and Connecticut.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EF02A-3052-4FAC-F02B-559204900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674" y="2346637"/>
            <a:ext cx="2289434" cy="33945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with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SQL was used to identify and handle missing data:</a:t>
            </a:r>
          </a:p>
          <a:p>
            <a:r>
              <a:rPr dirty="0"/>
              <a:t>Examples:</a:t>
            </a:r>
          </a:p>
          <a:p>
            <a:r>
              <a:rPr dirty="0"/>
              <a:t>SELECT * FROM </a:t>
            </a:r>
            <a:r>
              <a:rPr dirty="0" err="1"/>
              <a:t>MTA_Daily_Ridership</a:t>
            </a:r>
            <a:r>
              <a:rPr dirty="0"/>
              <a:t> WHERE 'Date' IS NULL</a:t>
            </a:r>
          </a:p>
          <a:p>
            <a:r>
              <a:rPr dirty="0"/>
              <a:t>SELECT * FROM </a:t>
            </a:r>
            <a:r>
              <a:rPr dirty="0" err="1"/>
              <a:t>MTA_Daily_Ridership</a:t>
            </a:r>
            <a:r>
              <a:rPr dirty="0"/>
              <a:t> WHERE '</a:t>
            </a:r>
            <a:r>
              <a:rPr dirty="0" err="1"/>
              <a:t>Subways_Total_Ridership</a:t>
            </a:r>
            <a:r>
              <a:rPr dirty="0"/>
              <a:t>' IS NULL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Total Ridership by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862" y="2438402"/>
            <a:ext cx="8229878" cy="1698884"/>
          </a:xfrm>
        </p:spPr>
        <p:txBody>
          <a:bodyPr/>
          <a:lstStyle/>
          <a:p>
            <a:r>
              <a:rPr dirty="0"/>
              <a:t>Query:</a:t>
            </a:r>
          </a:p>
          <a:p>
            <a:r>
              <a:rPr dirty="0"/>
              <a:t>SELECT Year, SUM(</a:t>
            </a:r>
            <a:r>
              <a:rPr dirty="0" err="1"/>
              <a:t>Subways_Total_Ridership</a:t>
            </a:r>
            <a:r>
              <a:rPr dirty="0"/>
              <a:t>), ... GROUP BY Year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E44B2-3992-C634-4477-4C07C5E83E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05" t="21176" r="28339" b="13996"/>
          <a:stretch/>
        </p:blipFill>
        <p:spPr>
          <a:xfrm>
            <a:off x="344774" y="4043913"/>
            <a:ext cx="8229878" cy="26866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Ridership by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1752600"/>
          </a:xfrm>
        </p:spPr>
        <p:txBody>
          <a:bodyPr/>
          <a:lstStyle/>
          <a:p>
            <a:r>
              <a:rPr dirty="0"/>
              <a:t>Query used AVG() function to calculate:</a:t>
            </a:r>
          </a:p>
          <a:p>
            <a:r>
              <a:rPr dirty="0"/>
              <a:t>Average Subways, Buses, AAR, LIRR, MNR, SIR, and Bridges &amp; Tunnels ridership.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Weekday vs Weekend Ridership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33534"/>
            <a:ext cx="6737801" cy="1439055"/>
          </a:xfrm>
        </p:spPr>
        <p:txBody>
          <a:bodyPr>
            <a:normAutofit lnSpcReduction="10000"/>
          </a:bodyPr>
          <a:lstStyle/>
          <a:p>
            <a:r>
              <a:rPr dirty="0"/>
              <a:t>Query grouped ridership by day type:</a:t>
            </a:r>
          </a:p>
          <a:p>
            <a:r>
              <a:rPr dirty="0"/>
              <a:t>- Weekday: Monday to Friday</a:t>
            </a:r>
          </a:p>
          <a:p>
            <a:r>
              <a:rPr dirty="0"/>
              <a:t>- Weekend: Saturday and Sunday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C06874-3C3F-8FD3-9B6A-6C4F0210D1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3" t="20944" r="28361" b="14131"/>
          <a:stretch/>
        </p:blipFill>
        <p:spPr>
          <a:xfrm>
            <a:off x="1" y="3600136"/>
            <a:ext cx="9144000" cy="34177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32349"/>
            <a:ext cx="7704667" cy="1981200"/>
          </a:xfrm>
        </p:spPr>
        <p:txBody>
          <a:bodyPr/>
          <a:lstStyle/>
          <a:p>
            <a:r>
              <a:t>Pandemic Recovery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883" y="2158584"/>
            <a:ext cx="8964118" cy="1981200"/>
          </a:xfrm>
        </p:spPr>
        <p:txBody>
          <a:bodyPr/>
          <a:lstStyle/>
          <a:p>
            <a:r>
              <a:rPr dirty="0"/>
              <a:t>Recovery rates compared to pre-pandemic (2019) values.</a:t>
            </a:r>
          </a:p>
          <a:p>
            <a:r>
              <a:rPr dirty="0"/>
              <a:t>Queries aggregated monthly and yearly recovery percentages.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26A54-CE3C-725D-3826-538C3D286F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1" t="20914" r="30492" b="13188"/>
          <a:stretch/>
        </p:blipFill>
        <p:spPr>
          <a:xfrm>
            <a:off x="89941" y="3627619"/>
            <a:ext cx="8964118" cy="33877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Peak and Low Ridership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SQL was used to find the highest and lowest ridership days by mode:</a:t>
            </a:r>
          </a:p>
          <a:p>
            <a:r>
              <a:rPr dirty="0"/>
              <a:t>Example:</a:t>
            </a:r>
          </a:p>
          <a:p>
            <a:r>
              <a:rPr dirty="0"/>
              <a:t>SELECT TOP 1 [Date], [</a:t>
            </a:r>
            <a:r>
              <a:rPr dirty="0" err="1"/>
              <a:t>Subways_Total_Ridership</a:t>
            </a:r>
            <a:r>
              <a:rPr dirty="0"/>
              <a:t>] ORDER BY DESC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Modes Most Affected by the Pandemic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Compared average recovery percentage by transport mode.</a:t>
            </a:r>
          </a:p>
          <a:p>
            <a:r>
              <a:rPr dirty="0"/>
              <a:t>- Identified the fastest and slowest recovering services.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57E96-CA0F-27CB-2C0C-A907614CB1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31" t="43075" r="38361" b="33015"/>
          <a:stretch/>
        </p:blipFill>
        <p:spPr>
          <a:xfrm>
            <a:off x="457200" y="4527030"/>
            <a:ext cx="7704667" cy="23259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Railroad Usage Yearly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Compared usage across:</a:t>
            </a:r>
          </a:p>
          <a:p>
            <a:r>
              <a:rPr dirty="0"/>
              <a:t>- LIRR</a:t>
            </a:r>
          </a:p>
          <a:p>
            <a:r>
              <a:rPr dirty="0"/>
              <a:t>- MNR</a:t>
            </a:r>
          </a:p>
          <a:p>
            <a:r>
              <a:rPr dirty="0"/>
              <a:t>- SIR</a:t>
            </a:r>
          </a:p>
          <a:p>
            <a:r>
              <a:rPr dirty="0"/>
              <a:t>Using:</a:t>
            </a:r>
          </a:p>
          <a:p>
            <a:r>
              <a:rPr dirty="0"/>
              <a:t>SELECT Year, SUM(...) GROUP BY Year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Subways had highest total ridership.</a:t>
            </a:r>
          </a:p>
          <a:p>
            <a:r>
              <a:t>- Weekend ridership lagged behind weekday.</a:t>
            </a:r>
          </a:p>
          <a:p>
            <a:r>
              <a:t>- AAR and SIR were most impacted by the pandemic.</a:t>
            </a:r>
          </a:p>
          <a:p>
            <a:r>
              <a:t>- Recovery is ongoing but shows clear progress.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D00ED0-382F-508E-D978-7FDA84D349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27" b="7322"/>
          <a:stretch/>
        </p:blipFill>
        <p:spPr>
          <a:xfrm>
            <a:off x="-3043003" y="0"/>
            <a:ext cx="15080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44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74788-A2C1-2D8D-92B1-1509090661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748" b="7356"/>
          <a:stretch/>
        </p:blipFill>
        <p:spPr>
          <a:xfrm>
            <a:off x="-3507698" y="0"/>
            <a:ext cx="16354267" cy="698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17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500A9D-FB0E-A5F4-964C-D5C75ED63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57993" y="0"/>
            <a:ext cx="13626059" cy="721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005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C84C2-2F1F-B6BC-9A5E-8CD61F07B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93298" y="0"/>
            <a:ext cx="14630400" cy="700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54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Questions &amp; Discussion</a:t>
            </a:r>
          </a:p>
          <a:p>
            <a:endParaRPr dirty="0"/>
          </a:p>
          <a:p>
            <a:r>
              <a:rPr dirty="0"/>
              <a:t>Prepared by</a:t>
            </a:r>
            <a:r>
              <a:rPr lang="en-US" dirty="0"/>
              <a:t>: </a:t>
            </a:r>
            <a:r>
              <a:rPr lang="en-US" dirty="0" err="1"/>
              <a:t>samr</a:t>
            </a:r>
            <a:r>
              <a:rPr lang="en-US" dirty="0"/>
              <a:t> said , </a:t>
            </a:r>
            <a:r>
              <a:rPr lang="en-US" dirty="0" err="1"/>
              <a:t>lamiaa</a:t>
            </a:r>
            <a:r>
              <a:rPr lang="en-US" dirty="0"/>
              <a:t> </a:t>
            </a:r>
            <a:r>
              <a:rPr lang="en-US" dirty="0" err="1"/>
              <a:t>abd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megid</a:t>
            </a:r>
            <a:r>
              <a:rPr lang="en-US" dirty="0"/>
              <a:t> , Nermin </a:t>
            </a:r>
            <a:r>
              <a:rPr lang="en-US" dirty="0" err="1"/>
              <a:t>mohssen</a:t>
            </a:r>
            <a:r>
              <a:rPr lang="en-US" dirty="0"/>
              <a:t> gad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rab</a:t>
            </a:r>
            <a:r>
              <a:rPr lang="en-US" dirty="0"/>
              <a:t> , Mahmoud </a:t>
            </a:r>
            <a:r>
              <a:rPr lang="en-US" dirty="0" err="1"/>
              <a:t>nasef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52</TotalTime>
  <Words>385</Words>
  <Application>Microsoft Office PowerPoint</Application>
  <PresentationFormat>On-screen Show (4:3)</PresentationFormat>
  <Paragraphs>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Tw Cen MT</vt:lpstr>
      <vt:lpstr>Droplet</vt:lpstr>
      <vt:lpstr>MTA Daily Ridership Analysis</vt:lpstr>
      <vt:lpstr>Project Overview</vt:lpstr>
      <vt:lpstr>About the MTA</vt:lpstr>
      <vt:lpstr>Data Cleaning with SQL</vt:lpstr>
      <vt:lpstr>Total Ridership by Year</vt:lpstr>
      <vt:lpstr>Average Ridership by Mode</vt:lpstr>
      <vt:lpstr>Weekday vs Weekend Ridership</vt:lpstr>
      <vt:lpstr>Pandemic Recovery Analysis</vt:lpstr>
      <vt:lpstr>Peak and Low Ridership Days</vt:lpstr>
      <vt:lpstr>Modes Most Affected by the Pandemic</vt:lpstr>
      <vt:lpstr>Railroad Usage Yearly</vt:lpstr>
      <vt:lpstr>Conclusion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Candle_Home</dc:creator>
  <cp:keywords/>
  <dc:description>generated using python-pptx</dc:description>
  <cp:lastModifiedBy>Candle_Home</cp:lastModifiedBy>
  <cp:revision>4</cp:revision>
  <dcterms:created xsi:type="dcterms:W3CDTF">2013-01-27T09:14:16Z</dcterms:created>
  <dcterms:modified xsi:type="dcterms:W3CDTF">2025-04-30T14:38:08Z</dcterms:modified>
  <cp:category/>
</cp:coreProperties>
</file>